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www.sciencedirect.com/science/article/pii/S0360132302002123?utm_source=chatgpt.co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ciencedirect.com/science/article/pii/S0360132323011356?utm_source=chatgpt.com" TargetMode="External"/><Relationship Id="rId5" Type="http://schemas.openxmlformats.org/officeDocument/2006/relationships/hyperlink" Target="https://www.who.int/publications/i/item/B09461?utm_source=chatgpt.com" TargetMode="External"/><Relationship Id="rId4" Type="http://schemas.openxmlformats.org/officeDocument/2006/relationships/hyperlink" Target="https://www.who.int/news-room/fact-sheets/detail/household-air-pollution-and-health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1450" y="1340255"/>
            <a:ext cx="5924550" cy="5427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–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26212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Title-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Innovation-Solutions could be in the form of waste segregation, disposal, and improve sanitization system.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 &amp; Green Technology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ID-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179046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Name-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BioBreath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0" y="-146546"/>
            <a:ext cx="10972800" cy="687224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 err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VayuJeeva</a:t>
            </a: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168911" y="813420"/>
            <a:ext cx="9264604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VayuJeeva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BioWall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Smart Source-Capture System for Sustainable Indoor Environmental Sanitization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26027" cy="49282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BioBreath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A01DCA6-BAF7-B15E-58ED-3243A82194BA}"/>
              </a:ext>
            </a:extLst>
          </p:cNvPr>
          <p:cNvSpPr/>
          <p:nvPr/>
        </p:nvSpPr>
        <p:spPr>
          <a:xfrm>
            <a:off x="99300" y="1507067"/>
            <a:ext cx="3592168" cy="418867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I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Solution: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Capture: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Captures pollutants at the point of generation before they disperse indoors.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Multi-Stage Treatment: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Combines washable pre-filtration,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TiO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₂ + UV-A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biochar and a biobased/wool cartridge.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Control: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ESP32-based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PM/VOC/T-RH/pressure sensing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enables adaptive airflow and IoT monitoring.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Sustainable Design: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a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terracotta housing with replaceable cartridges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supporting modular maintenance and resource-efficient operation.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F56899-118D-AD84-572C-59AF94F9738F}"/>
              </a:ext>
            </a:extLst>
          </p:cNvPr>
          <p:cNvSpPr/>
          <p:nvPr/>
        </p:nvSpPr>
        <p:spPr>
          <a:xfrm>
            <a:off x="3898236" y="3333515"/>
            <a:ext cx="5210148" cy="29376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I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addresses the problem: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Prevents pollutant spread: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Captures pollution at the source before it disperses across the indoor environment.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sanitization: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multi-stage filtration and treatment to reduce particulate and suitable organic pollutants.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intelligent operation: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Real-time sensors detect pollution levels and automatically adjust system operation.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resource and maintenance burden: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Modular terracotta housing and replaceable treatment cartridges support reusable, serviceable operation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B1686A-B3CB-10FF-035F-104F3CFDE8EC}"/>
              </a:ext>
            </a:extLst>
          </p:cNvPr>
          <p:cNvSpPr/>
          <p:nvPr/>
        </p:nvSpPr>
        <p:spPr>
          <a:xfrm>
            <a:off x="9315153" y="1974104"/>
            <a:ext cx="2714783" cy="27188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I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 &amp; Uniqueness:</a:t>
            </a:r>
          </a:p>
          <a:p>
            <a:pPr lvl="0"/>
            <a:endParaRPr lang="en-IN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Source Treatment: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Source capture with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TiO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₂ + UV-A, biochar and biobased filtration.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Sustainability: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ESP32 sensing, adaptive airflow and replaceable cartridges.</a:t>
            </a:r>
          </a:p>
          <a:p>
            <a:pPr lvl="0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878BC0-12F4-17B5-DDA1-0A46F299C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119219"/>
            <a:ext cx="3443763" cy="21306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09094" cy="50323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BioBreath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3BC7A14-099A-12A6-5EFB-E32E5B321EB8}"/>
              </a:ext>
            </a:extLst>
          </p:cNvPr>
          <p:cNvSpPr/>
          <p:nvPr/>
        </p:nvSpPr>
        <p:spPr>
          <a:xfrm>
            <a:off x="223307" y="1241663"/>
            <a:ext cx="2049360" cy="1143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SOURCE-LEVEL CAPTURE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inlet + Variable-Speed Blower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731A7B-8B86-1A51-B811-23878E39C0A5}"/>
              </a:ext>
            </a:extLst>
          </p:cNvPr>
          <p:cNvSpPr/>
          <p:nvPr/>
        </p:nvSpPr>
        <p:spPr>
          <a:xfrm>
            <a:off x="2675893" y="1360196"/>
            <a:ext cx="2150534" cy="9059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PRE-FILTRATION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Washable PM &amp; Grease Filter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CC50D1-4AD6-DB05-0B3C-872E388F9775}"/>
              </a:ext>
            </a:extLst>
          </p:cNvPr>
          <p:cNvSpPr/>
          <p:nvPr/>
        </p:nvSpPr>
        <p:spPr>
          <a:xfrm>
            <a:off x="5174933" y="1317836"/>
            <a:ext cx="2150534" cy="990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PHOTOCATALYTIC TREATMENT</a:t>
            </a:r>
          </a:p>
          <a:p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TiO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₂-Coated Terracotta + Shielded UV-A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65E08C-3867-9D66-F497-1A635E33079B}"/>
              </a:ext>
            </a:extLst>
          </p:cNvPr>
          <p:cNvSpPr/>
          <p:nvPr/>
        </p:nvSpPr>
        <p:spPr>
          <a:xfrm>
            <a:off x="7728693" y="1324947"/>
            <a:ext cx="1743707" cy="990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ADSORPTION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Coconut-Shell Biochar Cartridge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98C350-0B08-2E21-4E10-B7957BCF9DE8}"/>
              </a:ext>
            </a:extLst>
          </p:cNvPr>
          <p:cNvSpPr/>
          <p:nvPr/>
        </p:nvSpPr>
        <p:spPr>
          <a:xfrm>
            <a:off x="10275246" y="1209269"/>
            <a:ext cx="1621311" cy="11990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BIOBASED TREATMENT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Wool / Biobased Cartridge</a:t>
            </a:r>
          </a:p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120E3B-AA16-8A92-584D-DC2DB3526BE9}"/>
              </a:ext>
            </a:extLst>
          </p:cNvPr>
          <p:cNvSpPr/>
          <p:nvPr/>
        </p:nvSpPr>
        <p:spPr>
          <a:xfrm>
            <a:off x="10141869" y="2847205"/>
            <a:ext cx="1888067" cy="13027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SENSING &amp; CONTROL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PM2.5 + VOC + T/RH + Pressure Sensors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254F84-38F4-A147-A22B-78E56886E69D}"/>
              </a:ext>
            </a:extLst>
          </p:cNvPr>
          <p:cNvSpPr/>
          <p:nvPr/>
        </p:nvSpPr>
        <p:spPr>
          <a:xfrm>
            <a:off x="8298420" y="3202246"/>
            <a:ext cx="1481666" cy="59266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ESP32 PROCESSING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091A59-7A38-2799-4DAC-25EE817F2371}"/>
              </a:ext>
            </a:extLst>
          </p:cNvPr>
          <p:cNvSpPr/>
          <p:nvPr/>
        </p:nvSpPr>
        <p:spPr>
          <a:xfrm>
            <a:off x="6600310" y="3031458"/>
            <a:ext cx="1231898" cy="93424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ADAPTIVE   AIRFLOW CONTROL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DD7DF7-EB84-CC36-8CF1-5635DFA53AD2}"/>
              </a:ext>
            </a:extLst>
          </p:cNvPr>
          <p:cNvSpPr/>
          <p:nvPr/>
        </p:nvSpPr>
        <p:spPr>
          <a:xfrm>
            <a:off x="4518766" y="3003283"/>
            <a:ext cx="1731434" cy="9905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 MONITORING &amp; MAINTENANCE ALERT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0522B9-9DAB-ABFC-866D-FD7047E24196}"/>
              </a:ext>
            </a:extLst>
          </p:cNvPr>
          <p:cNvSpPr/>
          <p:nvPr/>
        </p:nvSpPr>
        <p:spPr>
          <a:xfrm>
            <a:off x="2609703" y="3119169"/>
            <a:ext cx="1558953" cy="7588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CONTROLLED AIR OUTLET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917765-0ACC-9484-CA8C-505B5992622F}"/>
              </a:ext>
            </a:extLst>
          </p:cNvPr>
          <p:cNvSpPr/>
          <p:nvPr/>
        </p:nvSpPr>
        <p:spPr>
          <a:xfrm>
            <a:off x="404966" y="2750206"/>
            <a:ext cx="1854627" cy="14967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VALIDATION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PM/VOC reduction + airflow + power + pressure drop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326224-55C0-8EAA-1D81-A3C0BADAF5E2}"/>
              </a:ext>
            </a:extLst>
          </p:cNvPr>
          <p:cNvSpPr/>
          <p:nvPr/>
        </p:nvSpPr>
        <p:spPr>
          <a:xfrm>
            <a:off x="679629" y="4532178"/>
            <a:ext cx="1305301" cy="5842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ITERATE &amp; OPTIMIZE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33FFC1B-475C-5A9D-6528-5F08F6862128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272667" y="1813163"/>
            <a:ext cx="4032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6C469C9-4EAF-49CC-260D-96499A0F9B87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826427" y="1813136"/>
            <a:ext cx="348506" cy="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577C58E-F330-3F07-2AC9-02CDC76E4C8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7325467" y="1813136"/>
            <a:ext cx="403226" cy="7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609152-044D-F80C-7065-D0F2A9E391F4}"/>
              </a:ext>
            </a:extLst>
          </p:cNvPr>
          <p:cNvCxnSpPr>
            <a:stCxn id="9" idx="3"/>
            <a:endCxn id="13" idx="1"/>
          </p:cNvCxnSpPr>
          <p:nvPr/>
        </p:nvCxnSpPr>
        <p:spPr>
          <a:xfrm flipV="1">
            <a:off x="9472400" y="1808792"/>
            <a:ext cx="802846" cy="114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4366B6-48FC-B8DC-D532-942930553B47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11085902" y="2408315"/>
            <a:ext cx="1" cy="438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0A5A194-4B97-DA6C-50BA-97ABA2DB5173}"/>
              </a:ext>
            </a:extLst>
          </p:cNvPr>
          <p:cNvCxnSpPr>
            <a:stCxn id="14" idx="1"/>
            <a:endCxn id="15" idx="3"/>
          </p:cNvCxnSpPr>
          <p:nvPr/>
        </p:nvCxnSpPr>
        <p:spPr>
          <a:xfrm flipH="1" flipV="1">
            <a:off x="9780086" y="3498580"/>
            <a:ext cx="36178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11F08CE-7A19-EB8D-6503-B00AEC3AA1B9}"/>
              </a:ext>
            </a:extLst>
          </p:cNvPr>
          <p:cNvCxnSpPr>
            <a:stCxn id="15" idx="1"/>
            <a:endCxn id="16" idx="3"/>
          </p:cNvCxnSpPr>
          <p:nvPr/>
        </p:nvCxnSpPr>
        <p:spPr>
          <a:xfrm flipH="1">
            <a:off x="7832208" y="3498580"/>
            <a:ext cx="4662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C6EB62-39BB-276C-B7CA-84B9FE13837B}"/>
              </a:ext>
            </a:extLst>
          </p:cNvPr>
          <p:cNvCxnSpPr>
            <a:stCxn id="16" idx="1"/>
            <a:endCxn id="17" idx="3"/>
          </p:cNvCxnSpPr>
          <p:nvPr/>
        </p:nvCxnSpPr>
        <p:spPr>
          <a:xfrm flipH="1">
            <a:off x="6250200" y="3498580"/>
            <a:ext cx="350110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125B94D-9107-B14D-BDBD-F45A56F53E9A}"/>
              </a:ext>
            </a:extLst>
          </p:cNvPr>
          <p:cNvCxnSpPr>
            <a:stCxn id="17" idx="1"/>
            <a:endCxn id="18" idx="3"/>
          </p:cNvCxnSpPr>
          <p:nvPr/>
        </p:nvCxnSpPr>
        <p:spPr>
          <a:xfrm flipH="1" flipV="1">
            <a:off x="4168656" y="3498582"/>
            <a:ext cx="35011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AAFFD57-275D-FFF6-C5F7-5B6FA62A5380}"/>
              </a:ext>
            </a:extLst>
          </p:cNvPr>
          <p:cNvCxnSpPr>
            <a:stCxn id="18" idx="1"/>
            <a:endCxn id="19" idx="3"/>
          </p:cNvCxnSpPr>
          <p:nvPr/>
        </p:nvCxnSpPr>
        <p:spPr>
          <a:xfrm flipH="1" flipV="1">
            <a:off x="2259593" y="3498581"/>
            <a:ext cx="35011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1E80C0B-A774-6D95-7F18-310B1C2022CB}"/>
              </a:ext>
            </a:extLst>
          </p:cNvPr>
          <p:cNvCxnSpPr>
            <a:stCxn id="19" idx="2"/>
            <a:endCxn id="20" idx="0"/>
          </p:cNvCxnSpPr>
          <p:nvPr/>
        </p:nvCxnSpPr>
        <p:spPr>
          <a:xfrm>
            <a:off x="1332280" y="4246955"/>
            <a:ext cx="0" cy="2852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BDF469EC-8AC4-E5CB-3B88-07B2CF036C71}"/>
              </a:ext>
            </a:extLst>
          </p:cNvPr>
          <p:cNvSpPr/>
          <p:nvPr/>
        </p:nvSpPr>
        <p:spPr>
          <a:xfrm>
            <a:off x="9082596" y="4251033"/>
            <a:ext cx="2947340" cy="2026922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IN" sz="1400" b="1" i="1" dirty="0">
                <a:solidFill>
                  <a:schemeClr val="tx1"/>
                </a:solidFill>
              </a:rPr>
              <a:t>TECHNOLOGIES USED</a:t>
            </a:r>
            <a:r>
              <a:rPr lang="en-IN" sz="1400" i="1" dirty="0">
                <a:solidFill>
                  <a:schemeClr val="tx1"/>
                </a:solidFill>
              </a:rPr>
              <a:t>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i="1" dirty="0">
                <a:solidFill>
                  <a:schemeClr val="tx1"/>
                </a:solidFill>
              </a:rPr>
              <a:t>ESP32 &amp; IoT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i="1" dirty="0">
                <a:solidFill>
                  <a:schemeClr val="tx1"/>
                </a:solidFill>
              </a:rPr>
              <a:t>PM2.5 &amp; VOC Sensing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i="1" dirty="0" err="1">
                <a:solidFill>
                  <a:schemeClr val="tx1"/>
                </a:solidFill>
              </a:rPr>
              <a:t>TiO</a:t>
            </a:r>
            <a:r>
              <a:rPr lang="en-IN" sz="1400" i="1" dirty="0">
                <a:solidFill>
                  <a:schemeClr val="tx1"/>
                </a:solidFill>
              </a:rPr>
              <a:t>₂ Photocatalysis + UV-A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i="1" dirty="0">
                <a:solidFill>
                  <a:schemeClr val="tx1"/>
                </a:solidFill>
              </a:rPr>
              <a:t>Biochar Adsorption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i="1" dirty="0">
                <a:solidFill>
                  <a:schemeClr val="tx1"/>
                </a:solidFill>
              </a:rPr>
              <a:t>Adaptive Airflow Control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i="1" dirty="0">
                <a:solidFill>
                  <a:schemeClr val="tx1"/>
                </a:solidFill>
              </a:rPr>
              <a:t>Terracotta-Based Filtration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i="1" dirty="0">
                <a:solidFill>
                  <a:schemeClr val="tx1"/>
                </a:solidFill>
              </a:rPr>
              <a:t>Biobased/Wool Filtration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i="1" dirty="0">
                <a:solidFill>
                  <a:schemeClr val="tx1"/>
                </a:solidFill>
              </a:rPr>
              <a:t>IoT Dashboard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6430F04-DC64-0105-49B0-AF40F320234D}"/>
              </a:ext>
            </a:extLst>
          </p:cNvPr>
          <p:cNvSpPr txBox="1"/>
          <p:nvPr/>
        </p:nvSpPr>
        <p:spPr>
          <a:xfrm>
            <a:off x="3048000" y="4395361"/>
            <a:ext cx="4680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Youtube</a:t>
            </a:r>
            <a:r>
              <a:rPr lang="en-IN" dirty="0"/>
              <a:t> link:  https://youtu.be/Gjkb1LPXgA8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51427" cy="50323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BioBreath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sz="16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506B10D-B0F9-0B0B-A5B3-2048808D8837}"/>
              </a:ext>
            </a:extLst>
          </p:cNvPr>
          <p:cNvSpPr/>
          <p:nvPr/>
        </p:nvSpPr>
        <p:spPr>
          <a:xfrm>
            <a:off x="219708" y="1480789"/>
            <a:ext cx="4259160" cy="436967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OF FEASIBILITY OF IDEA:</a:t>
            </a:r>
          </a:p>
          <a:p>
            <a:endParaRPr lang="en-IN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Feasibility: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readily available ESP32, sensors, blower,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TiO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₂, UV-A and biochar components.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Economic &amp; Environmental Feasibility: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Low-cost terracotta and bio-based materials enable affordable, resource-conscious construction.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Feasibility: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Source capture, modular cartridges and sensor-controlled airflow simplify operation and maintenance.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Validation: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Modular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design enables diverse indoor deployment with measurable PM/VOC, airflow, and power performance.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A0BA15-D0CD-8CE2-6CB2-9A12E1ACB1FA}"/>
              </a:ext>
            </a:extLst>
          </p:cNvPr>
          <p:cNvSpPr/>
          <p:nvPr/>
        </p:nvSpPr>
        <p:spPr>
          <a:xfrm>
            <a:off x="4801028" y="2150533"/>
            <a:ext cx="3310467" cy="25146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Potential Challenges &amp; Risks:</a:t>
            </a:r>
          </a:p>
          <a:p>
            <a:endParaRPr lang="en-IN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Sensor Accuracy &amp; Calibration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Airflow, Pressure Drop &amp; Power Consumption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Filter/Cartridge Maintenance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UV &amp; Bio-Cartridge Safety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Long-Term Performance Validation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EEDAF9A-CA01-1074-5A1D-E6BAFB0F58D2}"/>
              </a:ext>
            </a:extLst>
          </p:cNvPr>
          <p:cNvSpPr/>
          <p:nvPr/>
        </p:nvSpPr>
        <p:spPr>
          <a:xfrm>
            <a:off x="8433656" y="1351754"/>
            <a:ext cx="3452687" cy="451644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Strategies to Overcome Challenges: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&amp; Affordable: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Low-cost sensors with ESP32-based monitoring.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Efficient: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Adaptive fan control reduces power consumption.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Maintenance: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Replaceable, low-cost cartridges.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Sustainable: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Terracotta and biochar reduce material and energy costs.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 &amp; Reliable: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Shielded UV with automatic shut-off.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Validation: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Repeated PM/VOC and airflow testing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2" y="252246"/>
            <a:ext cx="1626027" cy="50323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BioBreath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0E3B5-5E01-1DCC-3799-03B6294888D9}"/>
              </a:ext>
            </a:extLst>
          </p:cNvPr>
          <p:cNvSpPr/>
          <p:nvPr/>
        </p:nvSpPr>
        <p:spPr>
          <a:xfrm>
            <a:off x="2552700" y="2760133"/>
            <a:ext cx="4191000" cy="3556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Potential Impact on Target Audience:</a:t>
            </a:r>
          </a:p>
          <a:p>
            <a:endParaRPr lang="en-IN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 Protection: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Reduces exposure to indoor PM and VOC pollution.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Cleaner Spaces: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Improves indoor environmental quality at pollution sources.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Affordable Access: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Low-cost, modular design suits homes, classrooms and small businesses.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Awareness: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Real-time monitoring helps users understand and manage pollution.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Sustainable Use: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Low-power operation and replaceable components reduce resource consumption.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E3BECA-C268-D454-4E04-5885D7D3B0CC}"/>
              </a:ext>
            </a:extLst>
          </p:cNvPr>
          <p:cNvSpPr/>
          <p:nvPr/>
        </p:nvSpPr>
        <p:spPr>
          <a:xfrm>
            <a:off x="202347" y="936888"/>
            <a:ext cx="2261027" cy="324273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Audiences: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Households &amp; Kitchens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Schools &amp; Classrooms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Clinics &amp; Small Healthcare Facilities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Small Shops &amp; Workspaces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Restaurants &amp; Food Businesses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Institutions &amp; Community Spaces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B48F52-7313-BFE1-6685-B1592A3A5003}"/>
              </a:ext>
            </a:extLst>
          </p:cNvPr>
          <p:cNvSpPr/>
          <p:nvPr/>
        </p:nvSpPr>
        <p:spPr>
          <a:xfrm>
            <a:off x="5898335" y="936888"/>
            <a:ext cx="4376839" cy="2184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of the Solution: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Healthier Indoor Air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Reduces PM and suitable VOC exposure.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Source-Level Capture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Controls pollution before it spreads.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Affordable &amp; Sustainable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Low-cost, low-power, eco-friendly design.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&amp; Modular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Automated monitoring with easy cartridge replacement.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943CF56-982D-DB2B-ADD3-9F110AF5D6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3487" y="3175610"/>
            <a:ext cx="3780573" cy="226906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E91287-B7F9-9DF9-4E84-6DA637DF814C}"/>
              </a:ext>
            </a:extLst>
          </p:cNvPr>
          <p:cNvSpPr txBox="1"/>
          <p:nvPr/>
        </p:nvSpPr>
        <p:spPr>
          <a:xfrm>
            <a:off x="7046675" y="5444677"/>
            <a:ext cx="4978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i="1"/>
              <a:t>Potential Benefit Distribution of VayuJeeva BioWall </a:t>
            </a:r>
            <a:endParaRPr lang="en-IN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1883928-5EA5-2175-3F69-C592137371FE}"/>
              </a:ext>
            </a:extLst>
          </p:cNvPr>
          <p:cNvCxnSpPr>
            <a:cxnSpLocks/>
          </p:cNvCxnSpPr>
          <p:nvPr/>
        </p:nvCxnSpPr>
        <p:spPr>
          <a:xfrm>
            <a:off x="9780086" y="3984171"/>
            <a:ext cx="53702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0006621-2218-7682-C6C9-D8E9BB02AADB}"/>
              </a:ext>
            </a:extLst>
          </p:cNvPr>
          <p:cNvCxnSpPr>
            <a:cxnSpLocks/>
          </p:cNvCxnSpPr>
          <p:nvPr/>
        </p:nvCxnSpPr>
        <p:spPr>
          <a:xfrm>
            <a:off x="9518689" y="4297045"/>
            <a:ext cx="487460" cy="2260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25A93217-E0F6-CDFF-57DB-392197D6575C}"/>
              </a:ext>
            </a:extLst>
          </p:cNvPr>
          <p:cNvCxnSpPr>
            <a:cxnSpLocks/>
          </p:cNvCxnSpPr>
          <p:nvPr/>
        </p:nvCxnSpPr>
        <p:spPr>
          <a:xfrm>
            <a:off x="7998190" y="3379005"/>
            <a:ext cx="1191589" cy="182291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42B361A-895F-5ABE-EF92-BC2F4F7EF54D}"/>
              </a:ext>
            </a:extLst>
          </p:cNvPr>
          <p:cNvCxnSpPr>
            <a:cxnSpLocks/>
          </p:cNvCxnSpPr>
          <p:nvPr/>
        </p:nvCxnSpPr>
        <p:spPr>
          <a:xfrm flipH="1">
            <a:off x="8508274" y="3984171"/>
            <a:ext cx="3744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40229C6-A7CA-C5C2-CBD8-B1AD356B4079}"/>
              </a:ext>
            </a:extLst>
          </p:cNvPr>
          <p:cNvCxnSpPr>
            <a:cxnSpLocks/>
          </p:cNvCxnSpPr>
          <p:nvPr/>
        </p:nvCxnSpPr>
        <p:spPr>
          <a:xfrm flipH="1">
            <a:off x="8508274" y="4410061"/>
            <a:ext cx="4702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B5EC8EC-F06F-7044-A4D7-6C74B86E5EB1}"/>
              </a:ext>
            </a:extLst>
          </p:cNvPr>
          <p:cNvSpPr txBox="1"/>
          <p:nvPr/>
        </p:nvSpPr>
        <p:spPr>
          <a:xfrm>
            <a:off x="10275174" y="3797972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30%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8596E7E-4F07-1C7C-9AAE-76768B7BE767}"/>
              </a:ext>
            </a:extLst>
          </p:cNvPr>
          <p:cNvSpPr txBox="1"/>
          <p:nvPr/>
        </p:nvSpPr>
        <p:spPr>
          <a:xfrm>
            <a:off x="9996322" y="4338411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25%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C0FF42-FA0D-D707-0972-4068B810DE55}"/>
              </a:ext>
            </a:extLst>
          </p:cNvPr>
          <p:cNvSpPr txBox="1"/>
          <p:nvPr/>
        </p:nvSpPr>
        <p:spPr>
          <a:xfrm>
            <a:off x="8011665" y="4241107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20%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EB87A0A-98BF-C35A-5FCE-546F1F0C8874}"/>
              </a:ext>
            </a:extLst>
          </p:cNvPr>
          <p:cNvSpPr txBox="1"/>
          <p:nvPr/>
        </p:nvSpPr>
        <p:spPr>
          <a:xfrm>
            <a:off x="7973610" y="3778260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15%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650136-3225-0294-E34E-590056BEBB6A}"/>
              </a:ext>
            </a:extLst>
          </p:cNvPr>
          <p:cNvSpPr txBox="1"/>
          <p:nvPr/>
        </p:nvSpPr>
        <p:spPr>
          <a:xfrm>
            <a:off x="7458933" y="3204948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10%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09094" cy="523221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BioBreath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6758D30-9CD9-6064-5224-528C92B9F6AE}"/>
              </a:ext>
            </a:extLst>
          </p:cNvPr>
          <p:cNvSpPr txBox="1"/>
          <p:nvPr/>
        </p:nvSpPr>
        <p:spPr>
          <a:xfrm>
            <a:off x="609600" y="1395246"/>
            <a:ext cx="1115036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lvl="0" indent="-285750">
              <a:buFont typeface="Courier New" panose="02070309020205020404" pitchFamily="49" charset="0"/>
              <a:buChar char="o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– Household Air Pollution &amp; Health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Covers global exposure, health impacts and household pollution sources.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World Health Organization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WHO Household Air Pollution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Courier New" panose="02070309020205020404" pitchFamily="49" charset="0"/>
              <a:buChar char="o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– Exposure to Health-Damaging Air Pollutants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evidence on health risks associated with PM and other air pollutants.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World Health Organization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WHO Air Pollution Exposure Report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Courier New" panose="02070309020205020404" pitchFamily="49" charset="0"/>
              <a:buChar char="o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Haghighat et al. –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TiO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₂ Photocatalytic Oxidation for Indoor VOC Removal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Reviews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₂-based photocatalytic oxidation for indoor VOC treatment and discusses its limitations.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ScienceDirect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Research Paper –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TiO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₂-Based PCO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Courier New" panose="02070309020205020404" pitchFamily="49" charset="0"/>
              <a:buChar char="o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Haghighat et al. – Photocatalytic Oxidation for Indoor Air Purification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Reviews the use of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₂ photocatalysis for VOC removal in indoor environments.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ScienceDirect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Research Paper – Indoor Air PCO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7604</TotalTime>
  <Words>863</Words>
  <Application>Microsoft Office PowerPoint</Application>
  <PresentationFormat>Widescreen</PresentationFormat>
  <Paragraphs>130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ＭＳ Ｐゴシック</vt:lpstr>
      <vt:lpstr>Arial</vt:lpstr>
      <vt:lpstr>Calibri</vt:lpstr>
      <vt:lpstr>Courier New</vt:lpstr>
      <vt:lpstr>Garamond</vt:lpstr>
      <vt:lpstr>Times New Roman</vt:lpstr>
      <vt:lpstr>TradeGothic</vt:lpstr>
      <vt:lpstr>Wingdings</vt:lpstr>
      <vt:lpstr>Office Theme</vt:lpstr>
      <vt:lpstr>SMART INDIA HACKATHON 2026</vt:lpstr>
      <vt:lpstr> VayuJeeva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Saniya M</cp:lastModifiedBy>
  <cp:revision>150</cp:revision>
  <dcterms:created xsi:type="dcterms:W3CDTF">2013-12-12T18:46:50Z</dcterms:created>
  <dcterms:modified xsi:type="dcterms:W3CDTF">2026-10-02T11:27:28Z</dcterms:modified>
  <cp:category/>
</cp:coreProperties>
</file>