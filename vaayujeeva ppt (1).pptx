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saniyabeig789-cyber/VayuJeeva-SIH2026" TargetMode="External"/><Relationship Id="rId4" Type="http://schemas.openxmlformats.org/officeDocument/2006/relationships/hyperlink" Target="https://youtu.be/Gjkb1LPXgA8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www.sciencedirect.com/science/article/pii/S0360132323011356?utm_source=chatgpt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epa.gov/indoor-air-quality-iaq/factsheet-what-indoor-air-quality?utm_source=chatgpt.com" TargetMode="External"/><Relationship Id="rId5" Type="http://schemas.openxmlformats.org/officeDocument/2006/relationships/hyperlink" Target="https://www.epa.gov/indoor-air-quality-iaq/improving-indoor-air-quality?utm_source=chatgpt.com" TargetMode="External"/><Relationship Id="rId4" Type="http://schemas.openxmlformats.org/officeDocument/2006/relationships/hyperlink" Target="https://www.who.int/en/news-room/fact-sheets/detail/household-air-pollution-and-health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8550" y="1431178"/>
            <a:ext cx="5924550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26217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Title-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Innovation-Innovative ideas that help manage and generate renewable /sustainable sources more efficiently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&amp; Green Technology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179046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BioBreath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97427" cy="61982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BioBreath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AE1C128-8A23-28A7-F618-72FB8F5F8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177" y="2728806"/>
            <a:ext cx="1882808" cy="3157517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0872F3A-9973-15EF-71E5-BF978E9E9EC1}"/>
              </a:ext>
            </a:extLst>
          </p:cNvPr>
          <p:cNvSpPr/>
          <p:nvPr/>
        </p:nvSpPr>
        <p:spPr>
          <a:xfrm>
            <a:off x="692005" y="1247870"/>
            <a:ext cx="4329735" cy="11695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</a:t>
            </a:r>
          </a:p>
          <a:p>
            <a:pPr algn="just"/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VayuJeeva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BioWall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smart, source-capture air-purification module that intercepts indoor pollutants at their origin—such as cooking, incense, and cleaning—before they spread throughout the room.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3642B3C-A5B7-7F80-C5C3-201AEA3206C2}"/>
              </a:ext>
            </a:extLst>
          </p:cNvPr>
          <p:cNvSpPr/>
          <p:nvPr/>
        </p:nvSpPr>
        <p:spPr>
          <a:xfrm>
            <a:off x="5750667" y="1232119"/>
            <a:ext cx="4329735" cy="15294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I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Resolution</a:t>
            </a:r>
          </a:p>
          <a:p>
            <a:pPr>
              <a:buNone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VayuJeeva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addresses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indoor pollution spikes, slow passive diffusion, filter saturation, and lack of performance visibility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capturing pollutants directly at their source, treating them through multi-stage filtration, supporting biochar regeneration, and providing real-time IoT monitoring.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D04A1AF-CDAA-6A0D-F77F-C642731246A5}"/>
              </a:ext>
            </a:extLst>
          </p:cNvPr>
          <p:cNvSpPr/>
          <p:nvPr/>
        </p:nvSpPr>
        <p:spPr>
          <a:xfrm>
            <a:off x="2828595" y="2994837"/>
            <a:ext cx="4329735" cy="28914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Uniqueness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Source-capture + 4-stage purification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PM filtration, UV-A/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TiO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₂ oxidation, biochar adsorption, and wool-based biological treatment.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Bio-regenerating filtration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microbial activity to support VOC degradation and extend biochar functionality.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modular design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fired terracotta housing with replaceable cartridges.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IoT control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sensors and ESP32 to monitor air quality and adapt system operation. 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5C19854-8A7F-BFE7-17ED-6C44DF69C5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8369" y="4623412"/>
            <a:ext cx="1420491" cy="154851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3B85C08-337B-018C-A1F0-B9866BBD78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6111" y="4613359"/>
            <a:ext cx="931579" cy="154851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85D0BBA-1B35-8A38-BDC1-F849373FC5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3109" y="3074000"/>
            <a:ext cx="1133954" cy="137171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46D2CEC-3DB3-68A0-368C-AB33866B2C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6870" y="3074000"/>
            <a:ext cx="1658256" cy="137171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991C4F5-BC12-093D-46B0-0E14A41821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03348" y="3035587"/>
            <a:ext cx="1426588" cy="1426588"/>
          </a:xfrm>
          <a:prstGeom prst="rect">
            <a:avLst/>
          </a:prstGeom>
        </p:spPr>
      </p:pic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B549CF4-91A2-A85B-5F39-144068A6DD62}"/>
              </a:ext>
            </a:extLst>
          </p:cNvPr>
          <p:cNvCxnSpPr>
            <a:stCxn id="30" idx="1"/>
            <a:endCxn id="32" idx="3"/>
          </p:cNvCxnSpPr>
          <p:nvPr/>
        </p:nvCxnSpPr>
        <p:spPr>
          <a:xfrm flipH="1" flipV="1">
            <a:off x="10197690" y="5387618"/>
            <a:ext cx="340679" cy="100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1" name="Picture 50">
            <a:extLst>
              <a:ext uri="{FF2B5EF4-FFF2-40B4-BE49-F238E27FC236}">
                <a16:creationId xmlns:a16="http://schemas.microsoft.com/office/drawing/2014/main" id="{EAF004E8-C4D7-036F-C351-F6851EB4F52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51677" y="4605122"/>
            <a:ext cx="1359526" cy="1585097"/>
          </a:xfrm>
          <a:prstGeom prst="rect">
            <a:avLst/>
          </a:prstGeom>
        </p:spPr>
      </p:pic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8DD9B00-CD37-E3AF-A8FF-F6DDF4D1BE28}"/>
              </a:ext>
            </a:extLst>
          </p:cNvPr>
          <p:cNvCxnSpPr>
            <a:stCxn id="32" idx="1"/>
            <a:endCxn id="51" idx="3"/>
          </p:cNvCxnSpPr>
          <p:nvPr/>
        </p:nvCxnSpPr>
        <p:spPr>
          <a:xfrm flipH="1">
            <a:off x="8811203" y="5387618"/>
            <a:ext cx="454908" cy="100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370" name="Rectangle 15369">
            <a:extLst>
              <a:ext uri="{FF2B5EF4-FFF2-40B4-BE49-F238E27FC236}">
                <a16:creationId xmlns:a16="http://schemas.microsoft.com/office/drawing/2014/main" id="{8F49C745-2ABD-DB1C-3B9D-D2B8614D431C}"/>
              </a:ext>
            </a:extLst>
          </p:cNvPr>
          <p:cNvSpPr/>
          <p:nvPr/>
        </p:nvSpPr>
        <p:spPr>
          <a:xfrm>
            <a:off x="7306491" y="2994837"/>
            <a:ext cx="4723445" cy="321075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382" name="Straight Arrow Connector 15381">
            <a:extLst>
              <a:ext uri="{FF2B5EF4-FFF2-40B4-BE49-F238E27FC236}">
                <a16:creationId xmlns:a16="http://schemas.microsoft.com/office/drawing/2014/main" id="{8A4E3481-9B4A-B355-74DD-A4FD09982C64}"/>
              </a:ext>
            </a:extLst>
          </p:cNvPr>
          <p:cNvCxnSpPr>
            <a:stCxn id="38" idx="3"/>
            <a:endCxn id="36" idx="1"/>
          </p:cNvCxnSpPr>
          <p:nvPr/>
        </p:nvCxnSpPr>
        <p:spPr>
          <a:xfrm>
            <a:off x="8995126" y="3759860"/>
            <a:ext cx="2179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385" name="Straight Arrow Connector 15384">
            <a:extLst>
              <a:ext uri="{FF2B5EF4-FFF2-40B4-BE49-F238E27FC236}">
                <a16:creationId xmlns:a16="http://schemas.microsoft.com/office/drawing/2014/main" id="{E5377E47-CE95-EAB5-4973-C704437A2BAB}"/>
              </a:ext>
            </a:extLst>
          </p:cNvPr>
          <p:cNvCxnSpPr>
            <a:stCxn id="36" idx="3"/>
            <a:endCxn id="40" idx="1"/>
          </p:cNvCxnSpPr>
          <p:nvPr/>
        </p:nvCxnSpPr>
        <p:spPr>
          <a:xfrm flipV="1">
            <a:off x="10347063" y="3748881"/>
            <a:ext cx="256285" cy="109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390" name="Straight Arrow Connector 15389">
            <a:extLst>
              <a:ext uri="{FF2B5EF4-FFF2-40B4-BE49-F238E27FC236}">
                <a16:creationId xmlns:a16="http://schemas.microsoft.com/office/drawing/2014/main" id="{51F6AE88-ED39-6283-D5BD-CAD1160CA07E}"/>
              </a:ext>
            </a:extLst>
          </p:cNvPr>
          <p:cNvCxnSpPr>
            <a:stCxn id="40" idx="2"/>
          </p:cNvCxnSpPr>
          <p:nvPr/>
        </p:nvCxnSpPr>
        <p:spPr>
          <a:xfrm>
            <a:off x="11316642" y="4462175"/>
            <a:ext cx="0" cy="1511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392" name="Rectangle 15391">
            <a:extLst>
              <a:ext uri="{FF2B5EF4-FFF2-40B4-BE49-F238E27FC236}">
                <a16:creationId xmlns:a16="http://schemas.microsoft.com/office/drawing/2014/main" id="{3BB4CA46-D0B2-C6FA-8FF0-6F9C5FA7173B}"/>
              </a:ext>
            </a:extLst>
          </p:cNvPr>
          <p:cNvSpPr/>
          <p:nvPr/>
        </p:nvSpPr>
        <p:spPr>
          <a:xfrm>
            <a:off x="418011" y="2647406"/>
            <a:ext cx="2113923" cy="336325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4895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BioBreath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194B47F-B636-2B93-48AC-D8A9CEB5998A}"/>
              </a:ext>
            </a:extLst>
          </p:cNvPr>
          <p:cNvSpPr/>
          <p:nvPr/>
        </p:nvSpPr>
        <p:spPr>
          <a:xfrm>
            <a:off x="1872343" y="1394479"/>
            <a:ext cx="1524000" cy="10276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Source-Capture Hood + 3D Printed Duct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336E20-EBEA-7F0A-3238-B327F8A3525C}"/>
              </a:ext>
            </a:extLst>
          </p:cNvPr>
          <p:cNvSpPr/>
          <p:nvPr/>
        </p:nvSpPr>
        <p:spPr>
          <a:xfrm>
            <a:off x="3921935" y="1403579"/>
            <a:ext cx="1524000" cy="10276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Washable PM Prefilter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dust &amp; particles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826AD05-D7C3-8CB2-027E-6E56149C7567}"/>
              </a:ext>
            </a:extLst>
          </p:cNvPr>
          <p:cNvSpPr/>
          <p:nvPr/>
        </p:nvSpPr>
        <p:spPr>
          <a:xfrm>
            <a:off x="6165669" y="1403578"/>
            <a:ext cx="1439469" cy="10276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Biochar Buffer Media 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Adsorbs VOCs &amp; PM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EE7C7E4-743A-209C-08D0-DD6D6C9D4263}"/>
              </a:ext>
            </a:extLst>
          </p:cNvPr>
          <p:cNvSpPr/>
          <p:nvPr/>
        </p:nvSpPr>
        <p:spPr>
          <a:xfrm>
            <a:off x="8253549" y="1391041"/>
            <a:ext cx="1567903" cy="10276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Living Wool Sleeve  Microbial VOC Degradation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442DBB-5752-E04D-B559-3A7060E5A8EA}"/>
              </a:ext>
            </a:extLst>
          </p:cNvPr>
          <p:cNvSpPr/>
          <p:nvPr/>
        </p:nvSpPr>
        <p:spPr>
          <a:xfrm>
            <a:off x="10371909" y="1394479"/>
            <a:ext cx="1497874" cy="10276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UV-A +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TiO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₂ PCO Chamber  Oxidizes Pollutants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2D35592-A34E-063B-8B57-7D564D8A65CE}"/>
              </a:ext>
            </a:extLst>
          </p:cNvPr>
          <p:cNvSpPr/>
          <p:nvPr/>
        </p:nvSpPr>
        <p:spPr>
          <a:xfrm>
            <a:off x="0" y="1753827"/>
            <a:ext cx="1448953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POLLUTED AIR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0BF8C21-AD3E-1178-9419-9095C8AF7D17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 flipV="1">
            <a:off x="5445935" y="1917384"/>
            <a:ext cx="71973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9D11B29-2B7F-D451-5661-62E2E732DB64}"/>
              </a:ext>
            </a:extLst>
          </p:cNvPr>
          <p:cNvCxnSpPr>
            <a:stCxn id="25" idx="3"/>
            <a:endCxn id="4" idx="1"/>
          </p:cNvCxnSpPr>
          <p:nvPr/>
        </p:nvCxnSpPr>
        <p:spPr>
          <a:xfrm>
            <a:off x="1448953" y="1907716"/>
            <a:ext cx="423390" cy="5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4379DD2-CED7-AA49-B280-A56A855AFE0A}"/>
              </a:ext>
            </a:extLst>
          </p:cNvPr>
          <p:cNvCxnSpPr>
            <a:stCxn id="4" idx="3"/>
            <a:endCxn id="21" idx="1"/>
          </p:cNvCxnSpPr>
          <p:nvPr/>
        </p:nvCxnSpPr>
        <p:spPr>
          <a:xfrm>
            <a:off x="3396343" y="1908285"/>
            <a:ext cx="525592" cy="9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536410D-F139-6BBB-0F9D-3E7B2984E62C}"/>
              </a:ext>
            </a:extLst>
          </p:cNvPr>
          <p:cNvCxnSpPr>
            <a:stCxn id="22" idx="3"/>
            <a:endCxn id="23" idx="1"/>
          </p:cNvCxnSpPr>
          <p:nvPr/>
        </p:nvCxnSpPr>
        <p:spPr>
          <a:xfrm flipV="1">
            <a:off x="7605138" y="1904847"/>
            <a:ext cx="648411" cy="125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20E88E5-37F2-E6EA-FAFE-BD5B39130775}"/>
              </a:ext>
            </a:extLst>
          </p:cNvPr>
          <p:cNvCxnSpPr>
            <a:stCxn id="23" idx="3"/>
            <a:endCxn id="24" idx="1"/>
          </p:cNvCxnSpPr>
          <p:nvPr/>
        </p:nvCxnSpPr>
        <p:spPr>
          <a:xfrm>
            <a:off x="9821452" y="1904847"/>
            <a:ext cx="550457" cy="3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A1F6BEF8-0A54-8508-ACF9-A8E26E0C713F}"/>
              </a:ext>
            </a:extLst>
          </p:cNvPr>
          <p:cNvSpPr/>
          <p:nvPr/>
        </p:nvSpPr>
        <p:spPr>
          <a:xfrm>
            <a:off x="10371909" y="2777830"/>
            <a:ext cx="1497874" cy="1015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Variable-Speed Blower  Controlled Airflow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745E9F1-C731-DFF6-695A-208095A86D4F}"/>
              </a:ext>
            </a:extLst>
          </p:cNvPr>
          <p:cNvSpPr/>
          <p:nvPr/>
        </p:nvSpPr>
        <p:spPr>
          <a:xfrm>
            <a:off x="8253549" y="3080850"/>
            <a:ext cx="1575514" cy="4402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AIR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6C088AE-CB49-0BFB-56CF-54BF4EEED899}"/>
              </a:ext>
            </a:extLst>
          </p:cNvPr>
          <p:cNvSpPr/>
          <p:nvPr/>
        </p:nvSpPr>
        <p:spPr>
          <a:xfrm>
            <a:off x="6165669" y="2787179"/>
            <a:ext cx="1439469" cy="1027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+ Sensors  PM • VOC • T/RH • ΔP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2987660-E6C0-5F80-76BF-A7255C4E5E7A}"/>
              </a:ext>
            </a:extLst>
          </p:cNvPr>
          <p:cNvSpPr/>
          <p:nvPr/>
        </p:nvSpPr>
        <p:spPr>
          <a:xfrm>
            <a:off x="3938656" y="2628955"/>
            <a:ext cx="1524000" cy="13284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Optimization Duty Cycle UV Moisture CADR/Watt  Data Logging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4F37F61-C60D-0FED-FE34-1034D6E7F94B}"/>
              </a:ext>
            </a:extLst>
          </p:cNvPr>
          <p:cNvSpPr/>
          <p:nvPr/>
        </p:nvSpPr>
        <p:spPr>
          <a:xfrm>
            <a:off x="1872343" y="2764090"/>
            <a:ext cx="1584476" cy="10737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Calibrated Testing Active vs Passive  Performance Cycles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BDE368F-DFFC-B1EE-3024-121485F47C6D}"/>
              </a:ext>
            </a:extLst>
          </p:cNvPr>
          <p:cNvCxnSpPr>
            <a:stCxn id="39" idx="1"/>
            <a:endCxn id="40" idx="3"/>
          </p:cNvCxnSpPr>
          <p:nvPr/>
        </p:nvCxnSpPr>
        <p:spPr>
          <a:xfrm flipH="1">
            <a:off x="9829063" y="3285342"/>
            <a:ext cx="542846" cy="156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5CAACA9-3709-13D2-0C1A-D41A0799F525}"/>
              </a:ext>
            </a:extLst>
          </p:cNvPr>
          <p:cNvCxnSpPr>
            <a:stCxn id="40" idx="1"/>
            <a:endCxn id="41" idx="3"/>
          </p:cNvCxnSpPr>
          <p:nvPr/>
        </p:nvCxnSpPr>
        <p:spPr>
          <a:xfrm flipH="1">
            <a:off x="7605138" y="3300984"/>
            <a:ext cx="6484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836B340-9684-FBE3-DB17-CCE8EFE678BE}"/>
              </a:ext>
            </a:extLst>
          </p:cNvPr>
          <p:cNvCxnSpPr>
            <a:stCxn id="41" idx="1"/>
            <a:endCxn id="42" idx="3"/>
          </p:cNvCxnSpPr>
          <p:nvPr/>
        </p:nvCxnSpPr>
        <p:spPr>
          <a:xfrm flipH="1" flipV="1">
            <a:off x="5462656" y="3293163"/>
            <a:ext cx="703013" cy="7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FEC4704-C002-4CA1-99E3-01EEE121C27A}"/>
              </a:ext>
            </a:extLst>
          </p:cNvPr>
          <p:cNvCxnSpPr>
            <a:stCxn id="42" idx="1"/>
            <a:endCxn id="43" idx="3"/>
          </p:cNvCxnSpPr>
          <p:nvPr/>
        </p:nvCxnSpPr>
        <p:spPr>
          <a:xfrm flipH="1">
            <a:off x="3456819" y="3293163"/>
            <a:ext cx="481837" cy="78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425" name="Straight Arrow Connector 17424">
            <a:extLst>
              <a:ext uri="{FF2B5EF4-FFF2-40B4-BE49-F238E27FC236}">
                <a16:creationId xmlns:a16="http://schemas.microsoft.com/office/drawing/2014/main" id="{E79C8289-9391-8808-2A9F-C8F4AC6524CE}"/>
              </a:ext>
            </a:extLst>
          </p:cNvPr>
          <p:cNvCxnSpPr>
            <a:stCxn id="24" idx="2"/>
            <a:endCxn id="39" idx="0"/>
          </p:cNvCxnSpPr>
          <p:nvPr/>
        </p:nvCxnSpPr>
        <p:spPr>
          <a:xfrm>
            <a:off x="11120846" y="2422090"/>
            <a:ext cx="0" cy="3557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426" name="TextBox 17425">
            <a:extLst>
              <a:ext uri="{FF2B5EF4-FFF2-40B4-BE49-F238E27FC236}">
                <a16:creationId xmlns:a16="http://schemas.microsoft.com/office/drawing/2014/main" id="{2A8281BD-85BA-BCA3-E5DF-D2A32652822A}"/>
              </a:ext>
            </a:extLst>
          </p:cNvPr>
          <p:cNvSpPr txBox="1"/>
          <p:nvPr/>
        </p:nvSpPr>
        <p:spPr>
          <a:xfrm>
            <a:off x="186428" y="4487487"/>
            <a:ext cx="2525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</a:p>
        </p:txBody>
      </p:sp>
      <p:sp>
        <p:nvSpPr>
          <p:cNvPr id="17431" name="TextBox 17430">
            <a:extLst>
              <a:ext uri="{FF2B5EF4-FFF2-40B4-BE49-F238E27FC236}">
                <a16:creationId xmlns:a16="http://schemas.microsoft.com/office/drawing/2014/main" id="{E1A345F3-F0BE-E04F-6DCC-5B8F15F33102}"/>
              </a:ext>
            </a:extLst>
          </p:cNvPr>
          <p:cNvSpPr txBox="1"/>
          <p:nvPr/>
        </p:nvSpPr>
        <p:spPr>
          <a:xfrm>
            <a:off x="186428" y="4906001"/>
            <a:ext cx="111438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Capture + UV-A/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TiO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₂ PCO + Biochar Adsorption + Wool Biofiltration + IoT Sensing + Adaptive Airflow + Terracotta Modular Design.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YouTube Link 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https://youtu.be/Gjkb1LPXgA8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Link 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https://github.com/saniyabeig789-cyber/VayuJeeva-SIH2026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1436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BioBreath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F19F125-F6E3-85D1-6771-8C1795A2EB96}"/>
              </a:ext>
            </a:extLst>
          </p:cNvPr>
          <p:cNvSpPr/>
          <p:nvPr/>
        </p:nvSpPr>
        <p:spPr>
          <a:xfrm>
            <a:off x="262468" y="1481667"/>
            <a:ext cx="3818466" cy="44788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Wingdings" pitchFamily="2" charset="2"/>
              <a:buChar char="§"/>
            </a:pPr>
            <a:r>
              <a:rPr lang="en-US" b="1" i="1" u="sng" dirty="0">
                <a:latin typeface="Times New Roman" pitchFamily="18" charset="0"/>
                <a:cs typeface="Times New Roman" pitchFamily="18" charset="0"/>
              </a:rPr>
              <a:t>Analysis of Feasibility</a:t>
            </a:r>
          </a:p>
          <a:p>
            <a:endParaRPr lang="en-US" b="1" i="1" u="sng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Technical &amp; Financial: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Low-cost prototype targeted at ₹2,000–₹2,500 using modular terracotta, ESP32, and living biochar media.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Market Demand: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High demand for localized, affordable indoor source-capture air treatment over costly passive purifiers.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Operational Simplicity: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Easy assembly relying on standardized electronic components and replaceable living cartridges.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884C73-F844-09E7-223E-ADB662B0E53B}"/>
              </a:ext>
            </a:extLst>
          </p:cNvPr>
          <p:cNvSpPr/>
          <p:nvPr/>
        </p:nvSpPr>
        <p:spPr>
          <a:xfrm>
            <a:off x="4374833" y="1489604"/>
            <a:ext cx="3750733" cy="44788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i="1" u="sng" dirty="0">
                <a:latin typeface="Times New Roman" pitchFamily="18" charset="0"/>
                <a:cs typeface="Times New Roman" pitchFamily="18" charset="0"/>
              </a:rPr>
              <a:t>Potential Challenges and Risks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i="1" u="sng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Technical Risks: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Living microbial cartridges drying out or failing under extreme ambient conditions.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Financial &amp; Market: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Sensor price fluctuations impacting build cost, plus consumer skepticism of biological filters.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Operational Limits: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Supply chain dependencies for specialized parts like UV-A drivers and ESP32 microcontrollers.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21D783-6C60-DA84-FCC4-59D6F6964A29}"/>
              </a:ext>
            </a:extLst>
          </p:cNvPr>
          <p:cNvSpPr/>
          <p:nvPr/>
        </p:nvSpPr>
        <p:spPr>
          <a:xfrm>
            <a:off x="8403167" y="1489604"/>
            <a:ext cx="3513665" cy="44788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Wingdings" pitchFamily="2" charset="2"/>
              <a:buChar char="§"/>
            </a:pPr>
            <a:r>
              <a:rPr lang="en-US" b="1" i="1" u="sng" dirty="0">
                <a:latin typeface="Times New Roman" pitchFamily="18" charset="0"/>
                <a:cs typeface="Times New Roman" pitchFamily="18" charset="0"/>
              </a:rPr>
              <a:t>Strategies for Overcoming Challenges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Automated Safeguards: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Implement automated moisture backup and adaptive fan duty cycles to protect living microbes.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Bulk Sourcing &amp; Proof: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Secure components in bulk for the ₹2,000 target and use falsifiable test data to prove performance.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Smart Monitoring: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Integrate sensor-driven self-calibration and automated dashboard alerts for easy maintenance. 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482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BioBreath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159DCB8-33EF-6EAE-524D-5E444D8E847E}"/>
              </a:ext>
            </a:extLst>
          </p:cNvPr>
          <p:cNvSpPr/>
          <p:nvPr/>
        </p:nvSpPr>
        <p:spPr>
          <a:xfrm>
            <a:off x="6527800" y="1706561"/>
            <a:ext cx="4817533" cy="38137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 lvl="0"/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Promotes healthier indoor environments and improves awareness of indoor air quality.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Potentially lowers maintenance and replacement costs through modular, replaceable cartridges.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terracotta and bio-based materials, supporting a lower-waste purification approach.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biotechnology, IoT sensing, smart airflow control, and photocatalysis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one system.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adapted for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homes, classrooms, clinics, and small workplace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36CCF185-A678-F264-D204-94595F524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53365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C276CD-0356-0F30-ED64-84E40B5D97F8}"/>
              </a:ext>
            </a:extLst>
          </p:cNvPr>
          <p:cNvSpPr/>
          <p:nvPr/>
        </p:nvSpPr>
        <p:spPr>
          <a:xfrm>
            <a:off x="745068" y="1706561"/>
            <a:ext cx="4919133" cy="38137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IMPACTS</a:t>
            </a:r>
          </a:p>
          <a:p>
            <a:pPr lvl="0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Healthier indoor air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reducing exposure to PM and VOC pollutants.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 pollution control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homes, classrooms, clinics, and small workplaces.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maintenance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modular, replaceable filtration cartridges.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awareness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IoT-based air-quality monitoring.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adoption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terracotta and bio-based filtration materials.</a:t>
            </a:r>
          </a:p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0589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BioBreath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D1887A-2789-ECEC-C348-A777443A9B1E}"/>
              </a:ext>
            </a:extLst>
          </p:cNvPr>
          <p:cNvSpPr txBox="1"/>
          <p:nvPr/>
        </p:nvSpPr>
        <p:spPr>
          <a:xfrm>
            <a:off x="508000" y="1532467"/>
            <a:ext cx="109728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– Household Air Pollution and Health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the importance of reducing indoor/household air-pollution exposure and its health impacts.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WHO – Household Air Pollution and Health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U.S. EPA – Improving Indoor Air Quality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control, ventilation and filtration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major approaches to improving indoor air quality. This directly supports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VayuJeeva's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source-capture concept.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EPA – Improving Indoor Air Quality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U.S. EPA – What is Indoor Air Quality?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supporting the importance of indoor air quality and the role of source control and air cleaning.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EPA – Indoor Air Quality Factsheet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TiO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₂ Photocatalytic Oxidation Review – Building and Environment (2024)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the scientific basis of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TiO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₂-based photocatalytic oxidation for indoor VOC removal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also highlighting the need to evaluate by-products and performance limitations.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TiO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₂-based PCO for Indoor Air VOC Removal – ScienceDirect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7808</TotalTime>
  <Words>828</Words>
  <Application>Microsoft Office PowerPoint</Application>
  <PresentationFormat>Widescreen</PresentationFormat>
  <Paragraphs>93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Saniya M</cp:lastModifiedBy>
  <cp:revision>153</cp:revision>
  <dcterms:created xsi:type="dcterms:W3CDTF">2013-12-12T18:46:50Z</dcterms:created>
  <dcterms:modified xsi:type="dcterms:W3CDTF">2026-10-02T06:12:51Z</dcterms:modified>
  <cp:category/>
</cp:coreProperties>
</file>